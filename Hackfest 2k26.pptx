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1" r:id="rId4"/>
    <p:sldId id="262" r:id="rId5"/>
    <p:sldId id="259" r:id="rId6"/>
    <p:sldId id="258" r:id="rId7"/>
    <p:sldId id="264" r:id="rId8"/>
    <p:sldId id="260" r:id="rId9"/>
    <p:sldId id="267" r:id="rId10"/>
    <p:sldId id="268" r:id="rId11"/>
    <p:sldId id="269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FF"/>
    <a:srgbClr val="66FFFF"/>
    <a:srgbClr val="FF7D11"/>
    <a:srgbClr val="FF8205"/>
    <a:srgbClr val="66FF99"/>
    <a:srgbClr val="FF99FF"/>
    <a:srgbClr val="660066"/>
    <a:srgbClr val="FFCF21"/>
    <a:srgbClr val="015B5F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38" autoAdjust="0"/>
    <p:restoredTop sz="94660"/>
  </p:normalViewPr>
  <p:slideViewPr>
    <p:cSldViewPr>
      <p:cViewPr varScale="1">
        <p:scale>
          <a:sx n="103" d="100"/>
          <a:sy n="103" d="100"/>
        </p:scale>
        <p:origin x="1070" y="-2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96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4474A-DD99-DD44-79B3-C175826E0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223AE4-06E7-FFF1-6784-C72058F99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6FDF7-4C60-D2E9-1668-B27443BC9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C4454-0CA2-D825-7006-137A80BDE4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41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01881-4912-027C-9BF7-50EA3DBCF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D3742-86FF-823F-3CD7-4F0B44B1F5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0DEB6-21A3-7E65-8654-6080AE668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434FA-3529-5145-F227-1A20F167E2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86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F2084-94F8-DC22-5B28-E2E27486F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6C2D61-F58A-A5BF-1A06-AC2EA9897A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8E7F73-A497-B075-E54D-5D93CFD58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54D63-D76B-35E2-DB89-A7621A4674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244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75" y="3391972"/>
            <a:ext cx="7787955" cy="864069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4473" y="4256042"/>
            <a:ext cx="7797677" cy="807579"/>
          </a:xfrm>
        </p:spPr>
        <p:txBody>
          <a:bodyPr>
            <a:normAutofit/>
          </a:bodyPr>
          <a:lstStyle>
            <a:lvl1pPr marL="0" indent="0" algn="ctr">
              <a:buNone/>
              <a:defRPr sz="2800" b="0" i="0">
                <a:solidFill>
                  <a:srgbClr val="33CCFF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1175"/>
            <a:ext cx="8229600" cy="763526"/>
          </a:xfrm>
        </p:spPr>
        <p:txBody>
          <a:bodyPr>
            <a:normAutofit/>
          </a:bodyPr>
          <a:lstStyle>
            <a:lvl1pPr algn="ctr">
              <a:defRPr sz="3600" baseline="0">
                <a:solidFill>
                  <a:srgbClr val="33CC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7405"/>
            <a:ext cx="8229600" cy="3569856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6835" y="279263"/>
            <a:ext cx="6096000" cy="763525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33CC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6835" y="1042788"/>
            <a:ext cx="6096000" cy="3694697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1174"/>
            <a:ext cx="8229600" cy="763525"/>
          </a:xfrm>
        </p:spPr>
        <p:txBody>
          <a:bodyPr>
            <a:normAutofit/>
          </a:bodyPr>
          <a:lstStyle>
            <a:lvl1pPr algn="ctr">
              <a:defRPr sz="3600" u="none" baseline="0">
                <a:solidFill>
                  <a:srgbClr val="33CC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807" y="1407302"/>
            <a:ext cx="4040188" cy="568644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0222" y="1975943"/>
            <a:ext cx="4041775" cy="2886379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9" y="1407302"/>
            <a:ext cx="4041775" cy="568643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1975945"/>
            <a:ext cx="4041775" cy="2886380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1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5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49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8033" y="2010719"/>
            <a:ext cx="8856894" cy="214240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Sentinel Forge 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Resilience for India’s MSME Sector</a:t>
            </a:r>
            <a:br>
              <a:rPr lang="en-IN" b="1" dirty="0"/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553" y="3749336"/>
            <a:ext cx="9305855" cy="807579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Protecting the Backbone of Industry 4.0 with Agentic Intelligence.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F6C746-4591-5F1B-23AB-C115690C5213}"/>
              </a:ext>
            </a:extLst>
          </p:cNvPr>
          <p:cNvSpPr txBox="1"/>
          <p:nvPr/>
        </p:nvSpPr>
        <p:spPr>
          <a:xfrm>
            <a:off x="6648814" y="4529028"/>
            <a:ext cx="2414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Team – Data Dynamos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FFB709-FA35-27AC-453F-0A659D1D8F72}"/>
              </a:ext>
            </a:extLst>
          </p:cNvPr>
          <p:cNvSpPr txBox="1"/>
          <p:nvPr/>
        </p:nvSpPr>
        <p:spPr>
          <a:xfrm>
            <a:off x="2425136" y="199561"/>
            <a:ext cx="47426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Hackfest 2k26</a:t>
            </a: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470"/>
            <a:ext cx="8229600" cy="763526"/>
          </a:xfrm>
        </p:spPr>
        <p:txBody>
          <a:bodyPr>
            <a:no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885" y="1632967"/>
            <a:ext cx="2842770" cy="112344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endpoints are constant targets for ransomware, stealthy fileless malware, and zero-day exploits.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A silhouette of a hacker in a hoodie, working on a laptop with a lock icon on the screen, depicting cybersecurity challenges in the digital age. png">
            <a:extLst>
              <a:ext uri="{FF2B5EF4-FFF2-40B4-BE49-F238E27FC236}">
                <a16:creationId xmlns:a16="http://schemas.microsoft.com/office/drawing/2014/main" id="{C2C8F8FD-FF67-5F33-98B4-C26EEDBC4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0429" y="90383"/>
            <a:ext cx="916230" cy="91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A silhouette of a hacker in a hoodie, working on a laptop with a lock icon on the screen, depicting cybersecurity challenges in the digital age. png">
            <a:extLst>
              <a:ext uri="{FF2B5EF4-FFF2-40B4-BE49-F238E27FC236}">
                <a16:creationId xmlns:a16="http://schemas.microsoft.com/office/drawing/2014/main" id="{3862BDD8-9261-3AD8-78DF-B9D990357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343" y="128470"/>
            <a:ext cx="916231" cy="916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72B8A22-E065-81AA-8CA8-5ED4ACF092EC}"/>
              </a:ext>
            </a:extLst>
          </p:cNvPr>
          <p:cNvSpPr/>
          <p:nvPr/>
        </p:nvSpPr>
        <p:spPr>
          <a:xfrm>
            <a:off x="296261" y="1197405"/>
            <a:ext cx="2901394" cy="16797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14252D-C0FB-7457-8EB4-63AC6730BC7B}"/>
              </a:ext>
            </a:extLst>
          </p:cNvPr>
          <p:cNvSpPr/>
          <p:nvPr/>
        </p:nvSpPr>
        <p:spPr>
          <a:xfrm>
            <a:off x="3293096" y="3029865"/>
            <a:ext cx="3111364" cy="19259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C438F5-12BC-05B3-10EC-5AE8E76DD24D}"/>
              </a:ext>
            </a:extLst>
          </p:cNvPr>
          <p:cNvSpPr/>
          <p:nvPr/>
        </p:nvSpPr>
        <p:spPr>
          <a:xfrm>
            <a:off x="3293096" y="1197405"/>
            <a:ext cx="3111364" cy="16797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F8355D-2F11-DBE7-D3A4-64E27F5F5B21}"/>
              </a:ext>
            </a:extLst>
          </p:cNvPr>
          <p:cNvSpPr/>
          <p:nvPr/>
        </p:nvSpPr>
        <p:spPr>
          <a:xfrm>
            <a:off x="296260" y="3029865"/>
            <a:ext cx="2897767" cy="19259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EF846B-524E-35F6-BF69-57469916712B}"/>
              </a:ext>
            </a:extLst>
          </p:cNvPr>
          <p:cNvSpPr txBox="1"/>
          <p:nvPr/>
        </p:nvSpPr>
        <p:spPr>
          <a:xfrm>
            <a:off x="583942" y="1263635"/>
            <a:ext cx="2461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Threat Landscape</a:t>
            </a:r>
            <a:r>
              <a:rPr lang="en-US" sz="1800" dirty="0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52DB74-D2A8-388D-4D67-68A01774D8B7}"/>
              </a:ext>
            </a:extLst>
          </p:cNvPr>
          <p:cNvSpPr txBox="1"/>
          <p:nvPr/>
        </p:nvSpPr>
        <p:spPr>
          <a:xfrm>
            <a:off x="3445800" y="1263635"/>
            <a:ext cx="2821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MSME Vulnerability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DE1127-AC2E-D57F-9836-714869473A03}"/>
              </a:ext>
            </a:extLst>
          </p:cNvPr>
          <p:cNvSpPr txBox="1"/>
          <p:nvPr/>
        </p:nvSpPr>
        <p:spPr>
          <a:xfrm>
            <a:off x="3293095" y="1632967"/>
            <a:ext cx="301592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Indian MSMEs (30% of GDP) are adopting "Smart Factory" tech but remain "soft targets" due to the high cost of enterprise security.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6D46ED-7158-5433-E148-36F56F6AECAA}"/>
              </a:ext>
            </a:extLst>
          </p:cNvPr>
          <p:cNvSpPr txBox="1"/>
          <p:nvPr/>
        </p:nvSpPr>
        <p:spPr>
          <a:xfrm>
            <a:off x="-619970" y="3061826"/>
            <a:ext cx="4586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Technical Failure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D2D3CC-DD7C-3187-734A-02F05D97C30F}"/>
              </a:ext>
            </a:extLst>
          </p:cNvPr>
          <p:cNvSpPr txBox="1"/>
          <p:nvPr/>
        </p:nvSpPr>
        <p:spPr>
          <a:xfrm>
            <a:off x="296261" y="3386181"/>
            <a:ext cx="274869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tools provide fragmented telemetry and high-latency analysis, failing to stop attacks before they cause physical manufacturing downtime.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CA4B9D-AD8E-C68C-BD73-6C161DDC6E35}"/>
              </a:ext>
            </a:extLst>
          </p:cNvPr>
          <p:cNvSpPr txBox="1"/>
          <p:nvPr/>
        </p:nvSpPr>
        <p:spPr>
          <a:xfrm>
            <a:off x="3903915" y="3029865"/>
            <a:ext cx="1985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Bottom Line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25A064-8784-3B9E-731F-F846F09981E1}"/>
              </a:ext>
            </a:extLst>
          </p:cNvPr>
          <p:cNvSpPr txBox="1"/>
          <p:nvPr/>
        </p:nvSpPr>
        <p:spPr>
          <a:xfrm>
            <a:off x="3503064" y="3451156"/>
            <a:ext cx="259598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single breach doesn't just steal data; it stops the machines, leading to catastrophic financial loss.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4DEE0D2-A0F6-E91D-DAF6-70BEC07E8C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0" r="24708"/>
          <a:stretch>
            <a:fillRect/>
          </a:stretch>
        </p:blipFill>
        <p:spPr>
          <a:xfrm>
            <a:off x="6453566" y="1501095"/>
            <a:ext cx="2522781" cy="290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512F8-6A7C-A617-6BB0-2227AF0C3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3"/>
          <p:cNvSpPr>
            <a:spLocks noGrp="1"/>
          </p:cNvSpPr>
          <p:nvPr>
            <p:ph type="title"/>
          </p:nvPr>
        </p:nvSpPr>
        <p:spPr>
          <a:xfrm>
            <a:off x="592520" y="128470"/>
            <a:ext cx="8551480" cy="76352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Abstract: The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SentinelForge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Initiative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C49367C-795F-C894-27DB-E83B84283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1179" y="1197405"/>
            <a:ext cx="3184073" cy="25659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SentinelForge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potent, AI-driven cybersecurity ecosystem engineered specifically for the Micro, Small, and Medium Enterprises (MSMEs) of India. As these industries transition into Industry 4.0, they face an escalating surge of cyber-physical attacks that threaten the very heart of their manufacturing operations.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DFDB95-E73F-BE65-280B-2DFB2D5FD3B0}"/>
              </a:ext>
            </a:extLst>
          </p:cNvPr>
          <p:cNvSpPr txBox="1"/>
          <p:nvPr/>
        </p:nvSpPr>
        <p:spPr>
          <a:xfrm>
            <a:off x="296261" y="1208760"/>
            <a:ext cx="351221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implements a Multi-Agent AI architecture that provides passive, real-time monitoring of Windows endpoints. By analyzing network patterns, system logs, and memory events,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SentinelForge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identifies and neutralizes threat including ransomware, fileless malware, and machine manipulation without the need for expensive, proprietary hardware.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983A01-3070-FA1B-A75F-859ABBD361A8}"/>
              </a:ext>
            </a:extLst>
          </p:cNvPr>
          <p:cNvSpPr/>
          <p:nvPr/>
        </p:nvSpPr>
        <p:spPr>
          <a:xfrm>
            <a:off x="296260" y="1197406"/>
            <a:ext cx="3512215" cy="25658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ADDE8D-D1F4-DD2B-1755-194D0276CCE2}"/>
              </a:ext>
            </a:extLst>
          </p:cNvPr>
          <p:cNvSpPr/>
          <p:nvPr/>
        </p:nvSpPr>
        <p:spPr>
          <a:xfrm>
            <a:off x="3961180" y="1197405"/>
            <a:ext cx="3184073" cy="25659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FCADC2-0A3E-2A7E-B0C8-C545C24389C5}"/>
              </a:ext>
            </a:extLst>
          </p:cNvPr>
          <p:cNvSpPr/>
          <p:nvPr/>
        </p:nvSpPr>
        <p:spPr>
          <a:xfrm>
            <a:off x="296260" y="3869465"/>
            <a:ext cx="6848993" cy="9837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C4E8E9-91A6-F7D5-AF0D-8B29AA82B0F3}"/>
              </a:ext>
            </a:extLst>
          </p:cNvPr>
          <p:cNvSpPr txBox="1"/>
          <p:nvPr/>
        </p:nvSpPr>
        <p:spPr>
          <a:xfrm>
            <a:off x="296259" y="3920113"/>
            <a:ext cx="67190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Impact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Strengthens industrial resilience, reduces operational downtime, and democratizes high-end cybersecurity for the 63 million MSMEs driving the Indian economy.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924" y="1197405"/>
            <a:ext cx="293822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20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E671A-3893-DAFD-E6CF-48301908F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3">
            <a:extLst>
              <a:ext uri="{FF2B5EF4-FFF2-40B4-BE49-F238E27FC236}">
                <a16:creationId xmlns:a16="http://schemas.microsoft.com/office/drawing/2014/main" id="{74050476-A739-4A35-5F9B-7B9D4F699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52430" y="244714"/>
            <a:ext cx="7787955" cy="763525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715428-9EFD-0795-B515-C0B500E53F4D}"/>
              </a:ext>
            </a:extLst>
          </p:cNvPr>
          <p:cNvSpPr txBox="1"/>
          <p:nvPr/>
        </p:nvSpPr>
        <p:spPr>
          <a:xfrm>
            <a:off x="296259" y="1197405"/>
            <a:ext cx="28794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Six AI Agents</a:t>
            </a:r>
          </a:p>
          <a:p>
            <a:pPr algn="ctr">
              <a:buNone/>
            </a:pPr>
            <a:endParaRPr lang="en-US" sz="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Specialised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models for Network, Memory, Logs, Web, Audit and System Health.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ECB7A6-9C04-A4AC-A9CF-29669A0BE8E3}"/>
              </a:ext>
            </a:extLst>
          </p:cNvPr>
          <p:cNvSpPr/>
          <p:nvPr/>
        </p:nvSpPr>
        <p:spPr>
          <a:xfrm>
            <a:off x="296260" y="1197407"/>
            <a:ext cx="2879457" cy="13743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6D3DE0-3630-1CD0-7E55-6A0FA7229781}"/>
              </a:ext>
            </a:extLst>
          </p:cNvPr>
          <p:cNvSpPr/>
          <p:nvPr/>
        </p:nvSpPr>
        <p:spPr>
          <a:xfrm>
            <a:off x="3304846" y="1181226"/>
            <a:ext cx="2663440" cy="13905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27BFFD-A5BC-750E-C595-3252C20CF59F}"/>
              </a:ext>
            </a:extLst>
          </p:cNvPr>
          <p:cNvSpPr/>
          <p:nvPr/>
        </p:nvSpPr>
        <p:spPr>
          <a:xfrm>
            <a:off x="251979" y="2672603"/>
            <a:ext cx="8595760" cy="5627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D6C06D-F8FD-9FA0-FE04-C64BF5783892}"/>
              </a:ext>
            </a:extLst>
          </p:cNvPr>
          <p:cNvSpPr txBox="1"/>
          <p:nvPr/>
        </p:nvSpPr>
        <p:spPr>
          <a:xfrm>
            <a:off x="348618" y="2650537"/>
            <a:ext cx="84991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Windows Integration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collection from kernel, memory, ETW/logs and network stacks using researched packages.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22BA4-2314-45F1-29B7-91E66B698F0E}"/>
              </a:ext>
            </a:extLst>
          </p:cNvPr>
          <p:cNvSpPr txBox="1"/>
          <p:nvPr/>
        </p:nvSpPr>
        <p:spPr>
          <a:xfrm>
            <a:off x="6184300" y="1197405"/>
            <a:ext cx="26634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Dashboard</a:t>
            </a:r>
          </a:p>
          <a:p>
            <a:pPr algn="ctr">
              <a:buNone/>
            </a:pPr>
            <a:endParaRPr lang="en-US" sz="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web UI for multiple Windows systems with secure login and audit trails.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4F578F-8963-35AE-8423-08FCF2003EBD}"/>
              </a:ext>
            </a:extLst>
          </p:cNvPr>
          <p:cNvSpPr txBox="1"/>
          <p:nvPr/>
        </p:nvSpPr>
        <p:spPr>
          <a:xfrm>
            <a:off x="3676476" y="1197405"/>
            <a:ext cx="19201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Agentic Manager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00766F-9ABC-DCB3-1179-0FED33256D02}"/>
              </a:ext>
            </a:extLst>
          </p:cNvPr>
          <p:cNvSpPr txBox="1"/>
          <p:nvPr/>
        </p:nvSpPr>
        <p:spPr>
          <a:xfrm>
            <a:off x="3380166" y="1566737"/>
            <a:ext cx="2663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 coordinator to aggregate findings,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prioritise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alerts and enforce policies.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F5DAB4-4B0F-4584-B921-48B2D9ED98BF}"/>
              </a:ext>
            </a:extLst>
          </p:cNvPr>
          <p:cNvSpPr/>
          <p:nvPr/>
        </p:nvSpPr>
        <p:spPr>
          <a:xfrm>
            <a:off x="6184300" y="1197405"/>
            <a:ext cx="2663440" cy="13905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66"/>
          <a:stretch/>
        </p:blipFill>
        <p:spPr>
          <a:xfrm>
            <a:off x="-9150" y="3336164"/>
            <a:ext cx="5445022" cy="39674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4" t="57888" r="-2464" b="3321"/>
          <a:stretch/>
        </p:blipFill>
        <p:spPr>
          <a:xfrm>
            <a:off x="5335525" y="3325190"/>
            <a:ext cx="5445022" cy="199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09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8BCCF2F6-49B4-DB29-5C98-6F018C205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0" y="158905"/>
            <a:ext cx="6096000" cy="76352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2" name="Rectangle 1"/>
          <p:cNvSpPr/>
          <p:nvPr/>
        </p:nvSpPr>
        <p:spPr>
          <a:xfrm>
            <a:off x="2281425" y="1228394"/>
            <a:ext cx="359238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Cost: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 SIEMs often entail licensing fees of hundreds of thousands to millions annually, a prohibitive barrier for individual users or educational settings.</a:t>
            </a:r>
          </a:p>
          <a:p>
            <a:pPr algn="just"/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97012" y="2799391"/>
            <a:ext cx="35122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Complexity: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 can take months and requires specialist teams for configuration and ongoing maintenance, a sharp contrast to the need for rapid deployment and ease of use in smaller environments.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71289" y="1061484"/>
            <a:ext cx="2688349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Data aggregation and processing in traditional systems can introduce latency of minutes to hours, which is unacceptable for real-time threat detection on a single host in dynamic cybersecurity environments requiring immediate response.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ECB7A6-9C04-A4AC-A9CF-29669A0BE8E3}"/>
              </a:ext>
            </a:extLst>
          </p:cNvPr>
          <p:cNvSpPr/>
          <p:nvPr/>
        </p:nvSpPr>
        <p:spPr>
          <a:xfrm>
            <a:off x="2246212" y="1254386"/>
            <a:ext cx="3627593" cy="13743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ECB7A6-9C04-A4AC-A9CF-29669A0BE8E3}"/>
              </a:ext>
            </a:extLst>
          </p:cNvPr>
          <p:cNvSpPr/>
          <p:nvPr/>
        </p:nvSpPr>
        <p:spPr>
          <a:xfrm>
            <a:off x="2281425" y="2767784"/>
            <a:ext cx="3627593" cy="20945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ECB7A6-9C04-A4AC-A9CF-29669A0BE8E3}"/>
              </a:ext>
            </a:extLst>
          </p:cNvPr>
          <p:cNvSpPr/>
          <p:nvPr/>
        </p:nvSpPr>
        <p:spPr>
          <a:xfrm>
            <a:off x="6040830" y="1264968"/>
            <a:ext cx="2806909" cy="35973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619970" y="-40945"/>
            <a:ext cx="4123035" cy="763525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89D172-C062-5601-CF61-7AA04C34F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59" y="739290"/>
            <a:ext cx="8398775" cy="427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9" t="22353" r="11490" b="10585"/>
          <a:stretch/>
        </p:blipFill>
        <p:spPr>
          <a:xfrm>
            <a:off x="296259" y="1197404"/>
            <a:ext cx="8704185" cy="3359511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161855" y="433880"/>
            <a:ext cx="4123035" cy="763525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Models</a:t>
            </a:r>
          </a:p>
        </p:txBody>
      </p:sp>
    </p:spTree>
    <p:extLst>
      <p:ext uri="{BB962C8B-B14F-4D97-AF65-F5344CB8AC3E}">
        <p14:creationId xmlns:p14="http://schemas.microsoft.com/office/powerpoint/2010/main" val="374001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3555" y="128470"/>
            <a:ext cx="35700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96260" y="739290"/>
            <a:ext cx="7024430" cy="3851358"/>
            <a:chOff x="296260" y="739290"/>
            <a:chExt cx="7024430" cy="385135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3"/>
            <a:srcRect t="32803"/>
            <a:stretch/>
          </p:blipFill>
          <p:spPr>
            <a:xfrm>
              <a:off x="296260" y="739290"/>
              <a:ext cx="7024430" cy="3851358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296260" y="739290"/>
              <a:ext cx="7024429" cy="3739577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Rounded Rectangle 7"/>
          <p:cNvSpPr/>
          <p:nvPr/>
        </p:nvSpPr>
        <p:spPr>
          <a:xfrm>
            <a:off x="7473395" y="1970434"/>
            <a:ext cx="1589678" cy="1535319"/>
          </a:xfrm>
          <a:prstGeom prst="roundRect">
            <a:avLst/>
          </a:prstGeom>
          <a:gradFill>
            <a:gsLst>
              <a:gs pos="0">
                <a:schemeClr val="tx1"/>
              </a:gs>
              <a:gs pos="100000">
                <a:schemeClr val="dk1">
                  <a:tint val="37000"/>
                  <a:satMod val="300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504708" y="2184095"/>
            <a:ext cx="1527051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Audit Model</a:t>
            </a:r>
          </a:p>
          <a:p>
            <a:pPr algn="ctr"/>
            <a:endParaRPr lang="en-US" sz="3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  <a:p>
            <a:pPr algn="ctr"/>
            <a:r>
              <a:rPr lang="en-US" sz="1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Checks the health of other models, and generates detailed reports.</a:t>
            </a:r>
          </a:p>
        </p:txBody>
      </p:sp>
    </p:spTree>
    <p:extLst>
      <p:ext uri="{BB962C8B-B14F-4D97-AF65-F5344CB8AC3E}">
        <p14:creationId xmlns:p14="http://schemas.microsoft.com/office/powerpoint/2010/main" val="1091006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A844D-6F2A-26F1-2DFE-AF1CFB15B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24350712-518F-917E-2437-146EB80DBF80}"/>
              </a:ext>
            </a:extLst>
          </p:cNvPr>
          <p:cNvSpPr txBox="1">
            <a:spLocks/>
          </p:cNvSpPr>
          <p:nvPr/>
        </p:nvSpPr>
        <p:spPr>
          <a:xfrm>
            <a:off x="-925380" y="-53869"/>
            <a:ext cx="4123035" cy="763525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377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C80D0B-CD00-0E70-E43B-6961E25C7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4" y="768924"/>
            <a:ext cx="7635250" cy="4268253"/>
          </a:xfrm>
          <a:prstGeom prst="rect">
            <a:avLst/>
          </a:prstGeom>
        </p:spPr>
      </p:pic>
      <p:sp>
        <p:nvSpPr>
          <p:cNvPr id="5" name="Title 3">
            <a:extLst>
              <a:ext uri="{FF2B5EF4-FFF2-40B4-BE49-F238E27FC236}">
                <a16:creationId xmlns:a16="http://schemas.microsoft.com/office/drawing/2014/main" id="{47C52944-BF3E-2435-9CFD-38779242D245}"/>
              </a:ext>
            </a:extLst>
          </p:cNvPr>
          <p:cNvSpPr txBox="1">
            <a:spLocks/>
          </p:cNvSpPr>
          <p:nvPr/>
        </p:nvSpPr>
        <p:spPr>
          <a:xfrm>
            <a:off x="2510482" y="-24235"/>
            <a:ext cx="4123035" cy="763525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377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</a:p>
        </p:txBody>
      </p:sp>
    </p:spTree>
    <p:extLst>
      <p:ext uri="{BB962C8B-B14F-4D97-AF65-F5344CB8AC3E}">
        <p14:creationId xmlns:p14="http://schemas.microsoft.com/office/powerpoint/2010/main" val="4242327342"/>
      </p:ext>
    </p:extLst>
  </p:cSld>
  <p:clrMapOvr>
    <a:masterClrMapping/>
  </p:clrMapOvr>
  <p:transition spd="slow">
    <p:cover dir="r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D039B-8FEF-1AB4-6C01-62098DB92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067CB628-A3D9-32FF-D8C6-776C47762AA0}"/>
              </a:ext>
            </a:extLst>
          </p:cNvPr>
          <p:cNvSpPr txBox="1">
            <a:spLocks/>
          </p:cNvSpPr>
          <p:nvPr/>
        </p:nvSpPr>
        <p:spPr>
          <a:xfrm>
            <a:off x="-925380" y="-32382"/>
            <a:ext cx="4123035" cy="763525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377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3478FF5-8EBF-0E0F-53AD-C6709804D5CE}"/>
              </a:ext>
            </a:extLst>
          </p:cNvPr>
          <p:cNvSpPr txBox="1">
            <a:spLocks/>
          </p:cNvSpPr>
          <p:nvPr/>
        </p:nvSpPr>
        <p:spPr>
          <a:xfrm>
            <a:off x="2510482" y="-24235"/>
            <a:ext cx="4123035" cy="763525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377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Threat Detected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575C5E-A7F5-6ADF-6685-E32A4F10A9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64" y="787917"/>
            <a:ext cx="8246070" cy="412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72630"/>
      </p:ext>
    </p:extLst>
  </p:cSld>
  <p:clrMapOvr>
    <a:masterClrMapping/>
  </p:clrMapOvr>
  <p:transition spd="slow">
    <p:cover dir="r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91A96-711A-93ED-251B-CBE2981E6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805E49-2E5E-ABE0-5788-A78F91A5DC9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4560" y="-940465"/>
            <a:ext cx="9611265" cy="64136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AD7B7B1F-6DEF-EA10-5686-C7387D2C294D}"/>
              </a:ext>
            </a:extLst>
          </p:cNvPr>
          <p:cNvSpPr txBox="1">
            <a:spLocks/>
          </p:cNvSpPr>
          <p:nvPr/>
        </p:nvSpPr>
        <p:spPr>
          <a:xfrm>
            <a:off x="2205072" y="3921860"/>
            <a:ext cx="4733855" cy="122164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377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163654303"/>
      </p:ext>
    </p:extLst>
  </p:cSld>
  <p:clrMapOvr>
    <a:masterClrMapping/>
  </p:clrMapOvr>
  <p:transition spd="slow">
    <p:cover dir="r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459</Words>
  <Application>Microsoft Office PowerPoint</Application>
  <PresentationFormat>On-screen Show (16:9)</PresentationFormat>
  <Paragraphs>52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Sentinel Forge   AI-Powered Resilience for India’s MSME Sector </vt:lpstr>
      <vt:lpstr>Problem Statement</vt:lpstr>
      <vt:lpstr>Project Abstract: The SentinelForge Initiative</vt:lpstr>
      <vt:lpstr>Objectives</vt:lpstr>
      <vt:lpstr>Existing System</vt:lpstr>
      <vt:lpstr>Flow Chart</vt:lpstr>
      <vt:lpstr>AI Agent Models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Forge   AI-Powered Resilience for India’s MSME Sector</dc:title>
  <dc:creator>RIFAH ALAM</dc:creator>
  <cp:lastModifiedBy>Dharmanshoo Chopra</cp:lastModifiedBy>
  <cp:revision>11</cp:revision>
  <dcterms:created xsi:type="dcterms:W3CDTF">2017-08-01T15:40:51Z</dcterms:created>
  <dcterms:modified xsi:type="dcterms:W3CDTF">2026-02-21T06:24:37Z</dcterms:modified>
</cp:coreProperties>
</file>